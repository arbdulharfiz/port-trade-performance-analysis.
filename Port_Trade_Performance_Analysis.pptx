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56" r:id="rId2"/>
    <p:sldId id="258" r:id="rId3"/>
    <p:sldId id="259" r:id="rId4"/>
    <p:sldId id="260" r:id="rId5"/>
    <p:sldId id="261" r:id="rId6"/>
    <p:sldId id="266" r:id="rId7"/>
    <p:sldId id="267" r:id="rId8"/>
    <p:sldId id="268" r:id="rId9"/>
    <p:sldId id="262" r:id="rId10"/>
    <p:sldId id="263" r:id="rId11"/>
    <p:sldId id="264" r:id="rId12"/>
    <p:sldId id="265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05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4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21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0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7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39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5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06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9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2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0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8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Port Trade Performance and Operational Efficiency Analysis</a:t>
            </a:r>
            <a:br>
              <a:rPr lang="en-US" dirty="0"/>
            </a:br>
            <a:br>
              <a:rPr lang="en-US" dirty="0"/>
            </a:br>
            <a:r>
              <a:rPr lang="en-US" sz="3100" dirty="0"/>
              <a:t>(Nigeria Port Activity Data and Shipment)</a:t>
            </a:r>
            <a:endParaRPr sz="31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1010"/>
            <a:ext cx="6400800" cy="997789"/>
          </a:xfrm>
        </p:spPr>
        <p:txBody>
          <a:bodyPr>
            <a:noAutofit/>
          </a:bodyPr>
          <a:lstStyle/>
          <a:p>
            <a:pPr algn="ctr"/>
            <a:r>
              <a:rPr sz="1600" b="1" dirty="0">
                <a:solidFill>
                  <a:schemeClr val="tx1"/>
                </a:solidFill>
              </a:rPr>
              <a:t>A Data Analytics Project Using Power BI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Presented by: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Mohammad Abdulhafeez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600" dirty="0">
                <a:latin typeface="Poor Richard" panose="02080502050505020702" pitchFamily="18" charset="0"/>
              </a:rPr>
              <a:t>Ports are critical gateways for international trade and economic growth</a:t>
            </a:r>
            <a:endParaRPr lang="en-US"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Efficient port operations reduce logistics costs and congestion</a:t>
            </a:r>
          </a:p>
          <a:p>
            <a:r>
              <a:rPr sz="2600" dirty="0">
                <a:latin typeface="Poor Richard" panose="02080502050505020702" pitchFamily="18" charset="0"/>
              </a:rPr>
              <a:t>Data analytics enables evidence-based evaluation of port performance</a:t>
            </a:r>
          </a:p>
          <a:p>
            <a:r>
              <a:rPr sz="2600" dirty="0">
                <a:latin typeface="Poor Richard" panose="02080502050505020702" pitchFamily="18" charset="0"/>
              </a:rPr>
              <a:t>This study applies Power BI to analyze trade and operational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/>
              <a:t>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600" dirty="0">
                <a:latin typeface="Poor Richard" panose="02080502050505020702" pitchFamily="18" charset="0"/>
              </a:rPr>
              <a:t>Analyze trends in import and export volumes over time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Compare trade performance across ports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Examine cargo composition of trade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Evaluate operational efficiency using port calls and volume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Provide actionable insights and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/>
              <a:t>Data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Poor Richard" panose="02080502050505020702" pitchFamily="18" charset="0"/>
              </a:rPr>
              <a:t>The data was gotten from Kaggle with 73197 rows and 29 columns</a:t>
            </a:r>
          </a:p>
          <a:p>
            <a:r>
              <a:rPr lang="en-US" sz="2600" dirty="0">
                <a:latin typeface="Poor Richard" panose="02080502050505020702" pitchFamily="18" charset="0"/>
              </a:rPr>
              <a:t>Raw data cleaned and transformed using Power Query</a:t>
            </a:r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Unpivoting applied to normalize trade and port call data</a:t>
            </a:r>
          </a:p>
          <a:p>
            <a:r>
              <a:rPr sz="2600" dirty="0">
                <a:latin typeface="Poor Richard" panose="02080502050505020702" pitchFamily="18" charset="0"/>
              </a:rPr>
              <a:t>Star schema model created (Fact and Dimension tables)</a:t>
            </a:r>
          </a:p>
          <a:p>
            <a:r>
              <a:rPr sz="2600" dirty="0">
                <a:latin typeface="Poor Richard" panose="02080502050505020702" pitchFamily="18" charset="0"/>
              </a:rPr>
              <a:t>DAX measures developed for trade, growth, and efficiency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/>
              <a:t>Visualization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600" dirty="0">
                <a:latin typeface="Poor Richard" panose="02080502050505020702" pitchFamily="18" charset="0"/>
              </a:rPr>
              <a:t>Executive overview using KPI cards and trend charts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Port-level comparison using bar and stacked charts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Cargo composition analyzed using donut and line charts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Operational efficiency evaluated using scatter plots and ratios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0CDD-B665-B580-10C1-776BB094E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82" y="484632"/>
            <a:ext cx="8272731" cy="145631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Poor Richard" panose="02080502050505020702" pitchFamily="18" charset="0"/>
              </a:rPr>
              <a:t>Executive overview using KPI cards and trend charts</a:t>
            </a:r>
            <a:br>
              <a:rPr lang="en-US" sz="4400" dirty="0">
                <a:latin typeface="Poor Richard" panose="02080502050505020702" pitchFamily="18" charset="0"/>
              </a:rPr>
            </a:b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5D7BE7-6766-EE60-7FE4-C79434B90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12" y="1466491"/>
            <a:ext cx="8954218" cy="4705709"/>
          </a:xfrm>
        </p:spPr>
      </p:pic>
    </p:spTree>
    <p:extLst>
      <p:ext uri="{BB962C8B-B14F-4D97-AF65-F5344CB8AC3E}">
        <p14:creationId xmlns:p14="http://schemas.microsoft.com/office/powerpoint/2010/main" val="356750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7585-7F0F-8C0E-1988-6EBD8127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068123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Poor Richard" panose="02080502050505020702" pitchFamily="18" charset="0"/>
              </a:rPr>
              <a:t>Port-level comparison using bar and stacked charts and cargo analysis</a:t>
            </a:r>
            <a:br>
              <a:rPr lang="en-US" sz="4400" dirty="0">
                <a:latin typeface="Poor Richard" panose="02080502050505020702" pitchFamily="18" charset="0"/>
              </a:rPr>
            </a:b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A89D3B-CB9A-315B-364E-5D8E49D04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528" y="1552755"/>
            <a:ext cx="8738559" cy="5132717"/>
          </a:xfrm>
        </p:spPr>
      </p:pic>
    </p:spTree>
    <p:extLst>
      <p:ext uri="{BB962C8B-B14F-4D97-AF65-F5344CB8AC3E}">
        <p14:creationId xmlns:p14="http://schemas.microsoft.com/office/powerpoint/2010/main" val="1749338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D7D8-5B98-A5A5-72AA-BAC85091E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508070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Poor Richard" panose="02080502050505020702" pitchFamily="18" charset="0"/>
              </a:rPr>
              <a:t>Operational efficiency evaluated using scatter plots and ratios</a:t>
            </a:r>
            <a:br>
              <a:rPr lang="en-US" sz="4400" dirty="0">
                <a:latin typeface="Poor Richard" panose="02080502050505020702" pitchFamily="18" charset="0"/>
              </a:rPr>
            </a:b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63006E-1BE0-B8F6-5281-A5B31F044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85" y="1742536"/>
            <a:ext cx="8971472" cy="5029200"/>
          </a:xfrm>
        </p:spPr>
      </p:pic>
    </p:spTree>
    <p:extLst>
      <p:ext uri="{BB962C8B-B14F-4D97-AF65-F5344CB8AC3E}">
        <p14:creationId xmlns:p14="http://schemas.microsoft.com/office/powerpoint/2010/main" val="3402832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600" dirty="0">
                <a:latin typeface="Poor Richard" panose="02080502050505020702" pitchFamily="18" charset="0"/>
              </a:rPr>
              <a:t>Sustained growth in total trade volume over time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Imports consistently exceed exports, indicating trade imbalance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Trade activities concentrated in a few major ports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Significant variation in operational efficiency across ports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Containerized and bulk cargo dominate trade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/>
              <a:t>Causes of Observed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600" dirty="0">
                <a:latin typeface="Poor Richard" panose="02080502050505020702" pitchFamily="18" charset="0"/>
              </a:rPr>
              <a:t>Structural dependence on imports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Infrastructure and connectivity advantages in major ports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Underutilization of smaller ports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Inefficiencies in cargo handling and scheduling in some 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600" dirty="0">
                <a:latin typeface="Poor Richard" panose="02080502050505020702" pitchFamily="18" charset="0"/>
              </a:rPr>
              <a:t>Expand capacity and digital management in high-volume ports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Implement performance benchmarking across ports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Promote export-oriented logistics and policies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Improve utilization of underused ports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Invest in container handling and intermodal connectivity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/>
              <a:t>Areas for Further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600" dirty="0">
                <a:latin typeface="Poor Richard" panose="02080502050505020702" pitchFamily="18" charset="0"/>
              </a:rPr>
              <a:t>Incorporate cost and turnaround time data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Conduct comparative studies across countries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Apply predictive analytics for demand forecasting</a:t>
            </a:r>
            <a:endParaRPr lang="en-US" sz="2600" dirty="0">
              <a:latin typeface="Poor Richard" panose="02080502050505020702" pitchFamily="18" charset="0"/>
            </a:endParaRPr>
          </a:p>
          <a:p>
            <a:endParaRPr sz="2600" dirty="0">
              <a:latin typeface="Poor Richard" panose="02080502050505020702" pitchFamily="18" charset="0"/>
            </a:endParaRPr>
          </a:p>
          <a:p>
            <a:r>
              <a:rPr sz="2600" dirty="0">
                <a:latin typeface="Poor Richard" panose="02080502050505020702" pitchFamily="18" charset="0"/>
              </a:rPr>
              <a:t>Assess environmental and sustainability impacts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7739-E7FC-638C-DEF6-8A1018CF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1"/>
            <a:ext cx="7772400" cy="5976553"/>
          </a:xfrm>
        </p:spPr>
        <p:txBody>
          <a:bodyPr/>
          <a:lstStyle/>
          <a:p>
            <a:r>
              <a:rPr lang="en-US" sz="4400" dirty="0"/>
              <a:t>			Thank you!</a:t>
            </a:r>
            <a:br>
              <a:rPr lang="en-GB" sz="4400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9761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1611</TotalTime>
  <Words>350</Words>
  <Application>Microsoft Office PowerPoint</Application>
  <PresentationFormat>On-screen Show (4:3)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Poor Richard</vt:lpstr>
      <vt:lpstr>Rockwell</vt:lpstr>
      <vt:lpstr>Rockwell Condensed</vt:lpstr>
      <vt:lpstr>Wingdings</vt:lpstr>
      <vt:lpstr>Wood Type</vt:lpstr>
      <vt:lpstr>Port Trade Performance and Operational Efficiency Analysis  (Nigeria Port Activity Data and Shipment)</vt:lpstr>
      <vt:lpstr>Introduction</vt:lpstr>
      <vt:lpstr>Objectives of the Study</vt:lpstr>
      <vt:lpstr>Data and Methodology</vt:lpstr>
      <vt:lpstr>Visualization Approach</vt:lpstr>
      <vt:lpstr>Executive overview using KPI cards and trend charts </vt:lpstr>
      <vt:lpstr>Port-level comparison using bar and stacked charts and cargo analysis </vt:lpstr>
      <vt:lpstr>Operational efficiency evaluated using scatter plots and ratios </vt:lpstr>
      <vt:lpstr>Key Findings</vt:lpstr>
      <vt:lpstr>Causes of Observed Patterns</vt:lpstr>
      <vt:lpstr>Recommendations</vt:lpstr>
      <vt:lpstr>Areas for Further Research</vt:lpstr>
      <vt:lpstr>   Thank you!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 Trade Performance and Operational Efficiency Analysis  (Nigeria Port Activity Data and Shipment)</dc:title>
  <dc:subject/>
  <dc:creator/>
  <cp:keywords/>
  <dc:description>generated using python-pptx</dc:description>
  <cp:lastModifiedBy>Abdulhafeez Mohammad</cp:lastModifiedBy>
  <cp:revision>14</cp:revision>
  <dcterms:created xsi:type="dcterms:W3CDTF">2013-01-27T09:14:16Z</dcterms:created>
  <dcterms:modified xsi:type="dcterms:W3CDTF">2025-12-23T08:03:31Z</dcterms:modified>
  <cp:category/>
</cp:coreProperties>
</file>